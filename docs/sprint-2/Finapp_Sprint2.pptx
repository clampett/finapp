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5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2401B-A86F-453D-9928-E9789CA27DA6}" v="35" dt="2026-10-28T00:44:50.874"/>
    <p1510:client id="{674AA778-9C6E-41F8-86A5-624BB0C027EC}" v="1638" dt="2026-10-28T00:10:32.079"/>
    <p1510:client id="{DDF9618A-91BF-7A3A-D656-5F99E9B4973E}" v="177" dt="2026-10-28T01:23:24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67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1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37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8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0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0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9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5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86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Sprint 2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907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Sean Bassi, </a:t>
            </a:r>
            <a:r>
              <a:rPr lang="en-US" err="1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ali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en-US" err="1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Canturk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, Braden </a:t>
            </a:r>
            <a:r>
              <a:rPr lang="en-US" err="1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elsworth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, 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Quinn </a:t>
            </a:r>
            <a:r>
              <a:rPr lang="en-US" b="1" err="1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johnson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, </a:t>
            </a:r>
            <a:r>
              <a:rPr lang="en-US" err="1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jason</a:t>
            </a:r>
            <a:r>
              <a:rPr lang="en-US">
                <a:solidFill>
                  <a:schemeClr val="tx2">
                    <a:lumMod val="60000"/>
                    <a:lumOff val="40000"/>
                  </a:schemeClr>
                </a:solidFill>
                <a:ea typeface="Calibri Light"/>
                <a:cs typeface="Calibri Light"/>
              </a:rPr>
              <a:t> mele, Lucas Polo</a:t>
            </a:r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6222C581-0C11-861D-C460-04DC38B5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845" y="1511377"/>
            <a:ext cx="5289241" cy="176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18E8B3-C977-E7E1-F2A4-F7E34D1FD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34035"/>
              </p:ext>
            </p:extLst>
          </p:nvPr>
        </p:nvGraphicFramePr>
        <p:xfrm>
          <a:off x="272142" y="178836"/>
          <a:ext cx="11797920" cy="602958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219931">
                  <a:extLst>
                    <a:ext uri="{9D8B030D-6E8A-4147-A177-3AD203B41FA5}">
                      <a16:colId xmlns:a16="http://schemas.microsoft.com/office/drawing/2014/main" val="1249083085"/>
                    </a:ext>
                  </a:extLst>
                </a:gridCol>
                <a:gridCol w="5088241">
                  <a:extLst>
                    <a:ext uri="{9D8B030D-6E8A-4147-A177-3AD203B41FA5}">
                      <a16:colId xmlns:a16="http://schemas.microsoft.com/office/drawing/2014/main" val="3608612442"/>
                    </a:ext>
                  </a:extLst>
                </a:gridCol>
                <a:gridCol w="3489748">
                  <a:extLst>
                    <a:ext uri="{9D8B030D-6E8A-4147-A177-3AD203B41FA5}">
                      <a16:colId xmlns:a16="http://schemas.microsoft.com/office/drawing/2014/main" val="132295155"/>
                    </a:ext>
                  </a:extLst>
                </a:gridCol>
              </a:tblGrid>
              <a:tr h="1182917">
                <a:tc>
                  <a:txBody>
                    <a:bodyPr/>
                    <a:lstStyle/>
                    <a:p>
                      <a:pPr marL="0" algn="ctr" fontAlgn="base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</a:rPr>
                        <a:t>Product Backlog Item</a:t>
                      </a:r>
                    </a:p>
                    <a:p>
                      <a:pPr marL="0" lvl="0" algn="ctr">
                        <a:buNone/>
                      </a:pPr>
                      <a:endParaRPr lang="en-US" sz="2100" b="1" cap="none" spc="0">
                        <a:solidFill>
                          <a:schemeClr val="tx1"/>
                        </a:solidFill>
                        <a:effectLst/>
                        <a:latin typeface="Corbel"/>
                      </a:endParaRPr>
                    </a:p>
                  </a:txBody>
                  <a:tcPr marL="84502" marR="120717" marT="24143" marB="18107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</a:rPr>
                        <a:t>Acceptance Criteria</a:t>
                      </a:r>
                    </a:p>
                    <a:p>
                      <a:pPr marL="0" lvl="0" algn="ctr">
                        <a:buNone/>
                      </a:pPr>
                      <a:endParaRPr lang="en-US" sz="2100" b="1" cap="none" spc="0">
                        <a:solidFill>
                          <a:schemeClr val="tx1"/>
                        </a:solidFill>
                        <a:effectLst/>
                        <a:latin typeface="Corbel"/>
                      </a:endParaRPr>
                    </a:p>
                  </a:txBody>
                  <a:tcPr marL="84502" marR="120717" marT="24143" marB="18107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</a:rPr>
                        <a:t>Done/Partially Done/Not Done</a:t>
                      </a:r>
                    </a:p>
                  </a:txBody>
                  <a:tcPr marL="84502" marR="120717" marT="24143" marB="18107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11136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</a:rPr>
                        <a:t>1. Access current stock prices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</a:rPr>
                        <a:t>Stock prices (with historical data) come from an API and are displayed in a graph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 Done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454675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2, 32. Track specific stocks and shares owned</a:t>
                      </a:r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User saves stocks to track and enters how many shares they own; dividends count as income</a:t>
                      </a:r>
                      <a:endParaRPr lang="en-US"/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Partially Done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01370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33. Create an account and log in</a:t>
                      </a:r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A user creation screen creates a new account, and a login screen logs into it</a:t>
                      </a:r>
                      <a:endParaRPr lang="en-US"/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Done</a:t>
                      </a:r>
                      <a:endParaRPr lang="en-US"/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759023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14. Categorize my incomes, assets and expenses</a:t>
                      </a:r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Each income, asset and expense falls into a specific category that is displayed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Done</a:t>
                      </a:r>
                      <a:endParaRPr lang="en-US"/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098800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9. See my current net worth</a:t>
                      </a:r>
                      <a:endParaRPr lang="en-US"/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Assets and income are added, expenses subtracted, and the result is prominently displayed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 Done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53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39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4CC19-18AC-6FEA-6111-76565941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C34639-F4FC-3561-4263-17D39084B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682121"/>
              </p:ext>
            </p:extLst>
          </p:nvPr>
        </p:nvGraphicFramePr>
        <p:xfrm>
          <a:off x="272142" y="178836"/>
          <a:ext cx="11797920" cy="602958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219931">
                  <a:extLst>
                    <a:ext uri="{9D8B030D-6E8A-4147-A177-3AD203B41FA5}">
                      <a16:colId xmlns:a16="http://schemas.microsoft.com/office/drawing/2014/main" val="1249083085"/>
                    </a:ext>
                  </a:extLst>
                </a:gridCol>
                <a:gridCol w="5088241">
                  <a:extLst>
                    <a:ext uri="{9D8B030D-6E8A-4147-A177-3AD203B41FA5}">
                      <a16:colId xmlns:a16="http://schemas.microsoft.com/office/drawing/2014/main" val="3608612442"/>
                    </a:ext>
                  </a:extLst>
                </a:gridCol>
                <a:gridCol w="3489748">
                  <a:extLst>
                    <a:ext uri="{9D8B030D-6E8A-4147-A177-3AD203B41FA5}">
                      <a16:colId xmlns:a16="http://schemas.microsoft.com/office/drawing/2014/main" val="132295155"/>
                    </a:ext>
                  </a:extLst>
                </a:gridCol>
              </a:tblGrid>
              <a:tr h="1182917">
                <a:tc>
                  <a:txBody>
                    <a:bodyPr/>
                    <a:lstStyle/>
                    <a:p>
                      <a:pPr marL="0" algn="ctr" fontAlgn="base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</a:rPr>
                        <a:t>Product Backlog Item</a:t>
                      </a:r>
                    </a:p>
                    <a:p>
                      <a:pPr marL="0" lvl="0" algn="ctr">
                        <a:buNone/>
                      </a:pPr>
                      <a:endParaRPr lang="en-US" sz="2100" b="1" cap="none" spc="0">
                        <a:solidFill>
                          <a:schemeClr val="tx1"/>
                        </a:solidFill>
                        <a:effectLst/>
                        <a:latin typeface="Corbel"/>
                      </a:endParaRPr>
                    </a:p>
                  </a:txBody>
                  <a:tcPr marL="84502" marR="120717" marT="24143" marB="18107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</a:rPr>
                        <a:t>Acceptance Criteria</a:t>
                      </a:r>
                    </a:p>
                    <a:p>
                      <a:pPr marL="0" lvl="0" algn="ctr">
                        <a:buNone/>
                      </a:pPr>
                      <a:endParaRPr lang="en-US" sz="2100" b="1" cap="none" spc="0">
                        <a:solidFill>
                          <a:schemeClr val="tx1"/>
                        </a:solidFill>
                        <a:effectLst/>
                        <a:latin typeface="Corbel"/>
                      </a:endParaRPr>
                    </a:p>
                  </a:txBody>
                  <a:tcPr marL="84502" marR="120717" marT="24143" marB="18107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  <a:effectLst/>
                          <a:latin typeface="Corbel" panose="020B0503020204020204" pitchFamily="34" charset="0"/>
                        </a:rPr>
                        <a:t>Done/Partially Done/Not Done</a:t>
                      </a:r>
                    </a:p>
                  </a:txBody>
                  <a:tcPr marL="84502" marR="120717" marT="24143" marB="18107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11136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28. Run simulations based on different outcomes</a:t>
                      </a:r>
                      <a:endParaRPr lang="en-US"/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User can affect the simulation with different market profiles. 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 Done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454675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11. See what percentage of my net worth each item is</a:t>
                      </a:r>
                      <a:endParaRPr lang="en-US"/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Pie chart with a slice per income and asset, hovering shows details</a:t>
                      </a:r>
                      <a:endParaRPr lang="en-US"/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Partially Done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01370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10. Toggle incomes, assets and expenses on and off</a:t>
                      </a:r>
                      <a:endParaRPr lang="en-US"/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Toggling items changes the displayed net worth and graphs</a:t>
                      </a:r>
                      <a:endParaRPr lang="en-US"/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Partially Done</a:t>
                      </a:r>
                      <a:endParaRPr lang="en-US"/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759023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7. Search my incomes, assets and expenses</a:t>
                      </a:r>
                      <a:endParaRPr lang="en-US"/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User can search incomes, assets and expenses by name or data range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Partially done</a:t>
                      </a:r>
                      <a:endParaRPr lang="en-US"/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098800"/>
                  </a:ext>
                </a:extLst>
              </a:tr>
              <a:tr h="969334"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21. Have a secure website</a:t>
                      </a:r>
                      <a:endParaRPr lang="en-US"/>
                    </a:p>
                  </a:txBody>
                  <a:tcPr marL="84502" marR="120717" marT="24143" marB="181075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Strict password requirements and encrypted financial data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  <a:effectLst/>
                          <a:latin typeface="Corbel"/>
                        </a:rPr>
                        <a:t>Partially Done</a:t>
                      </a:r>
                    </a:p>
                  </a:txBody>
                  <a:tcPr marL="84502" marR="120717" marT="24143" marB="1810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53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342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with a line going down&#10;&#10;AI-generated content may be incorrect.">
            <a:extLst>
              <a:ext uri="{FF2B5EF4-FFF2-40B4-BE49-F238E27FC236}">
                <a16:creationId xmlns:a16="http://schemas.microsoft.com/office/drawing/2014/main" id="{E8AA64ED-C756-5682-B121-FA8B74022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482" y="159501"/>
            <a:ext cx="7124095" cy="310588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1E5BF-EC28-8D56-BB4A-B4E25187F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8581" y="585651"/>
            <a:ext cx="3327399" cy="59977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Product Backlog Items Complete: 7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Remaining PBI: 26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Average PBI/Sprint: 3.5; 9 needed for the next sprints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# of Sprints Required to Complete: 5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Duration of Sprints: 2 Weeks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Estimate to Complete: 6 Weeks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# of Sprints Remaining: 3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8" name="Picture 7" descr="A graph with a blue line and a dotted line&#10;&#10;AI-generated content may be incorrect.">
            <a:extLst>
              <a:ext uri="{FF2B5EF4-FFF2-40B4-BE49-F238E27FC236}">
                <a16:creationId xmlns:a16="http://schemas.microsoft.com/office/drawing/2014/main" id="{86C085BA-4DA2-979F-D8F3-E590DE410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809" y="3430814"/>
            <a:ext cx="7166429" cy="32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1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AAE3770-609E-4289-8B0A-45119D434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8B6BCE-776F-41C6-B8BE-87214BA6A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A5AC9C-E659-489D-8683-D019CE12A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hite stairs with a blue arrow drawn in the middle pointing upwards">
            <a:extLst>
              <a:ext uri="{FF2B5EF4-FFF2-40B4-BE49-F238E27FC236}">
                <a16:creationId xmlns:a16="http://schemas.microsoft.com/office/drawing/2014/main" id="{595C3213-E90B-6466-0307-3A651155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8" r="-1" b="1170"/>
          <a:stretch>
            <a:fillRect/>
          </a:stretch>
        </p:blipFill>
        <p:spPr>
          <a:xfrm>
            <a:off x="16" y="10"/>
            <a:ext cx="7556889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EA10571-B78E-41BC-AD0E-FDDC87845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86804-1328-C2AD-14CA-08D8C947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4085364" cy="33471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Progress &amp; Features</a:t>
            </a:r>
            <a:br>
              <a:rPr lang="en-US" sz="4400">
                <a:ea typeface="Calibri Light"/>
                <a:cs typeface="Calibri Light"/>
              </a:rPr>
            </a:br>
            <a:r>
              <a:rPr lang="en-US" sz="4400"/>
              <a:t>Visual </a:t>
            </a:r>
            <a:br>
              <a:rPr lang="en-US" sz="4400"/>
            </a:br>
            <a:r>
              <a:rPr lang="en-US" sz="4400"/>
              <a:t>Overview</a:t>
            </a:r>
            <a:br>
              <a:rPr lang="en-US" sz="4400"/>
            </a:br>
            <a:endParaRPr lang="en-US" sz="4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05AB35-29AF-48E7-B443-C11830E50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109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C7211D9-E545-4D00-9874-641EC7C7B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DBBC34A-8C43-4368-951E-A04EB7C00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646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B344B7-091D-1A91-D66C-148083262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255" y="801793"/>
            <a:ext cx="9857901" cy="524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59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F8779204-E5D2-4657-B0D3-E77364C3A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62599F1-A442-4AEE-BCB7-1C5C6A785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243A5ED-3136-4223-BF40-988E9F560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27A23741-C8CC-49EF-950D-A0B72BACD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4E823DD-C233-455F-9FF9-40C20F5D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3CF00AF-6C1D-4FC6-89F3-121ED766A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B62A78-456B-03BC-2567-BC3CD932D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130" y="241355"/>
            <a:ext cx="11768743" cy="638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52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E069E9-41BF-BD73-0C50-6821439D9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07" y="228041"/>
            <a:ext cx="11707548" cy="639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4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7211D9-E545-4D00-9874-641EC7C7B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BBC34A-8C43-4368-951E-A04EB7C00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AB9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465DBD-E9AF-7855-FDF8-8CC303802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70" y="801793"/>
            <a:ext cx="9129272" cy="524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820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Sprint 2</vt:lpstr>
      <vt:lpstr>PowerPoint Presentation</vt:lpstr>
      <vt:lpstr>PowerPoint Presentation</vt:lpstr>
      <vt:lpstr>PowerPoint Presentation</vt:lpstr>
      <vt:lpstr>Progress &amp; Features Visual  Overview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2026-10-25T18:48:55Z</dcterms:created>
  <dcterms:modified xsi:type="dcterms:W3CDTF">2026-10-29T00:12:19Z</dcterms:modified>
</cp:coreProperties>
</file>