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3"/>
  </p:notesMasterIdLst>
  <p:sldIdLst>
    <p:sldId id="260" r:id="rId6"/>
    <p:sldId id="261" r:id="rId7"/>
    <p:sldId id="256" r:id="rId8"/>
    <p:sldId id="262" r:id="rId9"/>
    <p:sldId id="266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5411B4-5030-DA84-3305-FFBA7BE091F9}" v="4" dt="2026-09-29T22:23:26.430"/>
    <p1510:client id="{27493D8E-E383-416B-859C-EE3743509586}" v="442" dt="2026-09-29T23:36:48.498"/>
    <p1510:client id="{79587A90-20D7-06FF-CA96-F659FBB003B6}" v="4" dt="2026-09-29T21:33:46.6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26EC4E-6550-4A08-8E33-4526F9396D49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F97E3-5ADF-468E-8740-524740AB37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57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1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574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730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416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71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997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01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33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87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679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70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3FE51-F917-4E01-99D0-890F496DDC8D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917716-2148-451B-8899-F657959C19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50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0544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docs.google.com/spreadsheets/d/1pKCVZZxrNSfkqVgfBOIc2EGS9Oq9ZNzYUNSLA8QqzrQ/edit?usp=sharing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Freeform: Shape 43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5" name="Freeform: Shape 4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8069A6-AD5D-B696-9E1B-EACCD193C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7200"/>
              <a:t>Sprint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4604F-2F2D-0301-B026-D3AC453DEE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</p:spPr>
        <p:txBody>
          <a:bodyPr anchor="ctr">
            <a:normAutofit/>
          </a:bodyPr>
          <a:lstStyle/>
          <a:p>
            <a:r>
              <a:rPr lang="en-US" sz="1500"/>
              <a:t>Team 1</a:t>
            </a:r>
          </a:p>
          <a:p>
            <a:r>
              <a:rPr lang="en-US" sz="1500"/>
              <a:t>Ali Canturk - Braden Elsworth - Jason Mele - Lucas Polo - Quinn Johnson - Sean Bassi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2425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AFCB1B-D63F-7C85-54F2-9023D800A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Finapp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DB1A6A-ED0C-B9AA-F7A1-F9E2F00080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480" y="2684095"/>
            <a:ext cx="4443154" cy="3492868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1800"/>
              <a:t>Web based application for budgeting and investing.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marR="0" lvl="0" indent="-228600" fontAlgn="auto"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/>
              <a:t>S</a:t>
            </a:r>
            <a:r>
              <a:rPr kumimoji="0" lang="en-US" sz="18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ee where your money goes and how your investments are doing without hopping between a bunch of different apps.</a:t>
            </a:r>
          </a:p>
          <a:p>
            <a:pPr marR="0" lvl="0" indent="-228600" fontAlgn="auto"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8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  <a:p>
            <a:pPr marL="285750" marR="0" lvl="0" indent="-228600" fontAlgn="auto"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800"/>
              <a:t>Three</a:t>
            </a:r>
            <a:r>
              <a:rPr kumimoji="0" lang="en-US" sz="18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</a:rPr>
              <a:t> main screens: an overview, a budgeting page, and an investing page. </a:t>
            </a:r>
            <a:endParaRPr lang="en-US" sz="1800"/>
          </a:p>
        </p:txBody>
      </p:sp>
      <p:pic>
        <p:nvPicPr>
          <p:cNvPr id="10" name="Content Placeholder 9" descr="The image is a layout of a financial tracking app, showing net worth, spending, portfolio value, and various budget categories.&#10;&#10;AI-generated content may be incorrect.">
            <a:extLst>
              <a:ext uri="{FF2B5EF4-FFF2-40B4-BE49-F238E27FC236}">
                <a16:creationId xmlns:a16="http://schemas.microsoft.com/office/drawing/2014/main" id="{CE73290F-7C5F-5CD3-5B88-D113651265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816" y="1179376"/>
            <a:ext cx="6440424" cy="44438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97104C-3EB8-7DF6-1AEF-2CF74135BDA3}"/>
              </a:ext>
            </a:extLst>
          </p:cNvPr>
          <p:cNvSpPr txBox="1"/>
          <p:nvPr/>
        </p:nvSpPr>
        <p:spPr>
          <a:xfrm>
            <a:off x="6187680" y="5678624"/>
            <a:ext cx="48366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Mockup generated by Claude (Anthropic, 2026). 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91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09600"/>
            <a:ext cx="1072896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53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5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731520" y="1463040"/>
            <a:ext cx="107289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40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talk to each other (all running in Docker containers)</a:t>
            </a:r>
            <a:endParaRPr lang="en-US" sz="2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9600" y="3048000"/>
            <a:ext cx="1950720" cy="1463040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09600" y="3048000"/>
            <a:ext cx="1950720" cy="146304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defTabSz="1219170"/>
            <a:r>
              <a:rPr lang="en-US" sz="21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Tailwind CSS, D3.js (runs in the browser)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657600" y="3048000"/>
            <a:ext cx="2316480" cy="1463040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657600" y="3048000"/>
            <a:ext cx="2316480" cy="146304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defTabSz="1219170"/>
            <a:r>
              <a:rPr lang="en-US" sz="21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Spring Boot: handles the requests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705600" y="2255520"/>
            <a:ext cx="2316480" cy="1219200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705600" y="2255520"/>
            <a:ext cx="2316480" cy="121920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defTabSz="1219170"/>
            <a:r>
              <a:rPr lang="en-US" sz="21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PostgreSQL: users, accounts, simulation logs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705600" y="4023360"/>
            <a:ext cx="2316480" cy="1584960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705600" y="4023360"/>
            <a:ext cx="2316480" cy="158496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defTabSz="1219170"/>
            <a:r>
              <a:rPr lang="en-US" sz="21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service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math, market data, AI suggestions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753600" y="4023360"/>
            <a:ext cx="1828800" cy="1584960"/>
          </a:xfrm>
          <a:prstGeom prst="rect">
            <a:avLst/>
          </a:prstGeom>
          <a:solidFill>
            <a:srgbClr val="EAF0F4"/>
          </a:solidFill>
          <a:ln w="12700">
            <a:solidFill>
              <a:srgbClr val="EAF0F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753600" y="4023360"/>
            <a:ext cx="1828800" cy="1584960"/>
          </a:xfrm>
          <a:prstGeom prst="rect">
            <a:avLst/>
          </a:prstGeom>
          <a:noFill/>
          <a:ln/>
        </p:spPr>
        <p:txBody>
          <a:bodyPr wrap="square" lIns="135467" tIns="135467" rIns="135467" bIns="135467" rtlCol="0" anchor="ctr"/>
          <a:lstStyle/>
          <a:p>
            <a:pPr defTabSz="1219170"/>
            <a:r>
              <a:rPr lang="en-US" sz="2133" b="1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  <a:p>
            <a:pPr defTabSz="1219170"/>
            <a:r>
              <a:rPr lang="en-US" sz="160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Finance, Claude API</a:t>
            </a:r>
            <a:endParaRPr lang="en-US" sz="21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60320" y="3779520"/>
            <a:ext cx="1097280" cy="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2499360" y="335280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974080" y="3779520"/>
            <a:ext cx="365760" cy="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39840" y="2865120"/>
            <a:ext cx="0" cy="195072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39840" y="2865120"/>
            <a:ext cx="365760" cy="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39840" y="4815840"/>
            <a:ext cx="365760" cy="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022080" y="4815840"/>
            <a:ext cx="731520" cy="0"/>
          </a:xfrm>
          <a:prstGeom prst="line">
            <a:avLst/>
          </a:prstGeom>
          <a:noFill/>
          <a:ln w="25400">
            <a:solidFill>
              <a:srgbClr val="222B3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022080" y="4389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1219170"/>
            <a:r>
              <a:rPr lang="en-US" sz="1333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1333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31520" y="591312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defTabSz="1219170"/>
            <a:r>
              <a:rPr lang="en-US" sz="200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asks Java for data, Java pulls it from the database, and hands the number crunching and AI stuff off to Python</a:t>
            </a:r>
            <a:r>
              <a:rPr lang="en-US" sz="160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0C4489-CD64-90BF-6DAC-288B414FA7A3}"/>
              </a:ext>
            </a:extLst>
          </p:cNvPr>
          <p:cNvSpPr txBox="1"/>
          <p:nvPr/>
        </p:nvSpPr>
        <p:spPr>
          <a:xfrm>
            <a:off x="609600" y="4748629"/>
            <a:ext cx="47697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accent3"/>
                </a:solidFill>
              </a:rPr>
              <a:t>Diagram generated by Claude (Anthropic, 2026), simplified from our team's diagrams.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BA9D5-DE29-4A81-A8E3-1C14C671C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Core Functionality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76BBF70-8031-E0F7-70B9-C6CFEAA847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4255095"/>
              </p:ext>
            </p:extLst>
          </p:nvPr>
        </p:nvGraphicFramePr>
        <p:xfrm>
          <a:off x="838200" y="1475873"/>
          <a:ext cx="10655967" cy="5156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1989">
                  <a:extLst>
                    <a:ext uri="{9D8B030D-6E8A-4147-A177-3AD203B41FA5}">
                      <a16:colId xmlns:a16="http://schemas.microsoft.com/office/drawing/2014/main" val="1139137178"/>
                    </a:ext>
                  </a:extLst>
                </a:gridCol>
                <a:gridCol w="3551989">
                  <a:extLst>
                    <a:ext uri="{9D8B030D-6E8A-4147-A177-3AD203B41FA5}">
                      <a16:colId xmlns:a16="http://schemas.microsoft.com/office/drawing/2014/main" val="2657647685"/>
                    </a:ext>
                  </a:extLst>
                </a:gridCol>
                <a:gridCol w="3551989">
                  <a:extLst>
                    <a:ext uri="{9D8B030D-6E8A-4147-A177-3AD203B41FA5}">
                      <a16:colId xmlns:a16="http://schemas.microsoft.com/office/drawing/2014/main" val="1731384386"/>
                    </a:ext>
                  </a:extLst>
                </a:gridCol>
              </a:tblGrid>
              <a:tr h="564316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Budgeting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Investing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features</a:t>
                      </a:r>
                      <a:endParaRPr 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258036"/>
                  </a:ext>
                </a:extLst>
              </a:tr>
              <a:tr h="4452685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Track recurring and one-off income and expenses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Daily, weekly, monthly, and yearly views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2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Budgeting strategies, with a rating of how well you follow them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Built-in stock and bond tracker</a:t>
                      </a:r>
                    </a:p>
                    <a:p>
                      <a:pPr marL="0" lvl="0" indent="0" rtl="0">
                        <a:buFont typeface="Arial" panose="020B0604020202020204" pitchFamily="34" charset="0"/>
                        <a:buNone/>
                      </a:pPr>
                      <a:endParaRPr lang="en-US" sz="2400"/>
                    </a:p>
                    <a:p>
                      <a:pPr marL="342900" lvl="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Short-term and long-term investment goals</a:t>
                      </a:r>
                    </a:p>
                    <a:p>
                      <a:pPr marL="0" lvl="0" indent="0" rtl="0">
                        <a:buFont typeface="Arial" panose="020B0604020202020204" pitchFamily="34" charset="0"/>
                        <a:buNone/>
                      </a:pPr>
                      <a:endParaRPr lang="en-US" sz="2400"/>
                    </a:p>
                    <a:p>
                      <a:pPr marL="342900" lvl="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Diversification rating</a:t>
                      </a:r>
                    </a:p>
                    <a:p>
                      <a:pPr marL="0" lvl="0" indent="0" rtl="0">
                        <a:buFont typeface="Arial" panose="020B0604020202020204" pitchFamily="34" charset="0"/>
                        <a:buNone/>
                      </a:pPr>
                      <a:endParaRPr lang="en-US" sz="2400"/>
                    </a:p>
                    <a:p>
                      <a:pPr marL="342900" lvl="0" indent="-342900" rtl="0">
                        <a:buFont typeface="Arial" panose="020B0604020202020204" pitchFamily="34" charset="0"/>
                        <a:buChar char="•"/>
                      </a:pPr>
                      <a:r>
                        <a:rPr lang="en-US" sz="2400"/>
                        <a:t>News linked to what you hold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chatbot that looks at your finances and gives suggestions</a:t>
                      </a:r>
                      <a:endParaRPr lang="en-US" sz="2400"/>
                    </a:p>
                    <a:p>
                      <a:pPr marL="285750" indent="-285750">
                        <a:spcAft>
                          <a:spcPts val="8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 Carlo simulation: runs thousands of random what-if scenarios to show the range of things that could happen with your money, not just one guess</a:t>
                      </a:r>
                      <a:endParaRPr lang="en-US" sz="2400"/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09730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7819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EDC60-3DB2-343E-AD34-C441B800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5755"/>
            <a:ext cx="10515600" cy="1325563"/>
          </a:xfrm>
        </p:spPr>
        <p:txBody>
          <a:bodyPr/>
          <a:lstStyle/>
          <a:p>
            <a:pPr algn="ctr"/>
            <a:r>
              <a:rPr lang="en-US"/>
              <a:t>User Stories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C70CB2-3255-E334-F1BD-7C11B5D7F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563376"/>
              </p:ext>
            </p:extLst>
          </p:nvPr>
        </p:nvGraphicFramePr>
        <p:xfrm>
          <a:off x="1435100" y="1296910"/>
          <a:ext cx="9321800" cy="2555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833004672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3422813300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1372724397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1479501974"/>
                    </a:ext>
                  </a:extLst>
                </a:gridCol>
              </a:tblGrid>
              <a:tr h="5781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Financial management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Investing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noProof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Also on the list</a:t>
                      </a:r>
                    </a:p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107281"/>
                  </a:ext>
                </a:extLst>
              </a:tr>
              <a:tr h="1915471">
                <a:tc>
                  <a:txBody>
                    <a:bodyPr/>
                    <a:lstStyle/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my assets</a:t>
                      </a:r>
                      <a:endParaRPr lang="en-US" sz="1800"/>
                    </a:p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my income</a:t>
                      </a:r>
                      <a:endParaRPr lang="en-US" sz="1800"/>
                    </a:p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my expenses</a:t>
                      </a:r>
                      <a:endParaRPr lang="en-US" sz="1800"/>
                    </a:p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my net worth</a:t>
                      </a:r>
                      <a:endParaRPr lang="en-US" sz="1800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 current stock prices</a:t>
                      </a:r>
                      <a:endParaRPr lang="en-US" sz="1800"/>
                    </a:p>
                    <a:p>
                      <a:pPr marL="0" indent="0">
                        <a:spcAft>
                          <a:spcPts val="800"/>
                        </a:spcAft>
                        <a:buNone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specific stocks</a:t>
                      </a:r>
                      <a:endParaRPr lang="en-US" sz="1800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Have a secure website</a:t>
                      </a:r>
                      <a:endParaRPr lang="en-US" sz="1800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B3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Simulation: what-ifs</a:t>
                      </a:r>
                      <a:endParaRPr kumimoji="0" lang="en-US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B3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AI: money suggestions</a:t>
                      </a:r>
                      <a:endParaRPr kumimoji="0" lang="en-US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B3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News: headlines</a:t>
                      </a:r>
                      <a:endParaRPr kumimoji="0" lang="en-US" sz="15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5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222B33"/>
                          </a:solidFill>
                          <a:effectLst/>
                          <a:uLnTx/>
                          <a:uFillTx/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Profile: personalize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042139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ED676B-BC37-19D4-B1CE-F6AC83F0939E}"/>
              </a:ext>
            </a:extLst>
          </p:cNvPr>
          <p:cNvSpPr txBox="1"/>
          <p:nvPr/>
        </p:nvSpPr>
        <p:spPr>
          <a:xfrm>
            <a:off x="1435100" y="5881402"/>
            <a:ext cx="4395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list of stories: Click </a:t>
            </a:r>
            <a:r>
              <a:rPr lang="en-US" u="sng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/>
              </a:rPr>
              <a:t>here</a:t>
            </a:r>
            <a:endParaRPr lang="en-US" u="sng"/>
          </a:p>
        </p:txBody>
      </p:sp>
      <p:pic>
        <p:nvPicPr>
          <p:cNvPr id="9" name="table">
            <a:extLst>
              <a:ext uri="{FF2B5EF4-FFF2-40B4-BE49-F238E27FC236}">
                <a16:creationId xmlns:a16="http://schemas.microsoft.com/office/drawing/2014/main" id="{CE8C20D2-C93D-E2D4-CEBD-C6F513D52E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0" y="4226851"/>
            <a:ext cx="8046720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857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25CBAD-BA04-53B2-AB3C-198119088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US" sz="3400"/>
              <a:t>DoD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88EC3-3B4D-0B72-9654-89C31E2BB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Each Product Backlog Item (PBI) is considered to be done when: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1. All acceptance criteria defined in the user story are met.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2. All code is complete, follows team standards and is rigorously tested.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3. Unit tests are defined and complete.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4. New features and code are fully documented when necessary.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5. All relevant code is reviewed and successfully integrated or merged.</a:t>
            </a:r>
          </a:p>
          <a:p>
            <a:pPr indent="0">
              <a:buNone/>
            </a:pPr>
            <a:r>
              <a:rPr lang="en-US" sz="1500" b="0" i="0">
                <a:effectLst/>
                <a:latin typeface="Times New Roman" panose="02020603050405020304" pitchFamily="18" charset="0"/>
              </a:rPr>
              <a:t>6. Feature is accepted by the Product Owner.</a:t>
            </a:r>
          </a:p>
          <a:p>
            <a:endParaRPr lang="en-US" sz="1500"/>
          </a:p>
        </p:txBody>
      </p:sp>
      <p:pic>
        <p:nvPicPr>
          <p:cNvPr id="36" name="Graphic 35" descr="Check List">
            <a:extLst>
              <a:ext uri="{FF2B5EF4-FFF2-40B4-BE49-F238E27FC236}">
                <a16:creationId xmlns:a16="http://schemas.microsoft.com/office/drawing/2014/main" id="{A4EC3700-4038-21E4-A4FC-3A8961F8D3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30388" y="625683"/>
            <a:ext cx="5551280" cy="55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298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CBB2B1F0-0DD6-4744-9A46-7A344FB48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FFE2B3-9D4F-5ABE-A703-EF6AD540D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26720"/>
            <a:ext cx="10506456" cy="1919141"/>
          </a:xfrm>
        </p:spPr>
        <p:txBody>
          <a:bodyPr anchor="b">
            <a:normAutofit/>
          </a:bodyPr>
          <a:lstStyle/>
          <a:p>
            <a:r>
              <a:rPr lang="en-US" sz="6000"/>
              <a:t>References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2899927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2776031"/>
            <a:ext cx="1873457" cy="1371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42CE26CD-2A8E-DADC-A081-EFE6C7737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3337269"/>
            <a:ext cx="10509504" cy="29056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/>
              <a:t>Authors - (Team 1 + Claude) </a:t>
            </a:r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r>
              <a:rPr lang="en-US" sz="2200"/>
              <a:t>Claude </a:t>
            </a:r>
            <a:r>
              <a:rPr lang="en-US" sz="2200">
                <a:latin typeface="Calibri" pitchFamily="34" charset="0"/>
                <a:ea typeface="Calibri" pitchFamily="34" charset="-122"/>
                <a:cs typeface="Calibri" pitchFamily="34" charset="-120"/>
              </a:rPr>
              <a:t>helped with some of the wording. It also generated the architecture diagram (simplified from our team’s diagrams) and the mockup of what the overview screen could look like.</a:t>
            </a:r>
          </a:p>
          <a:p>
            <a:pPr marL="0" indent="0">
              <a:buNone/>
            </a:pPr>
            <a:endParaRPr lang="en-US" sz="220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200">
                <a:latin typeface="Calibri" pitchFamily="34" charset="0"/>
                <a:ea typeface="Calibri" pitchFamily="34" charset="-122"/>
                <a:cs typeface="Calibri" pitchFamily="34" charset="-120"/>
              </a:rPr>
              <a:t>Anthropic. (2026). </a:t>
            </a:r>
            <a:r>
              <a:rPr lang="en-US" sz="2200" i="1"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5.5</a:t>
            </a:r>
            <a:r>
              <a:rPr lang="en-US" sz="2200">
                <a:latin typeface="Calibri" pitchFamily="34" charset="0"/>
                <a:ea typeface="Calibri" pitchFamily="34" charset="-122"/>
                <a:cs typeface="Calibri" pitchFamily="34" charset="-120"/>
              </a:rPr>
              <a:t> [Large language model]. https://claude.ai</a:t>
            </a:r>
            <a:endParaRPr lang="en-US" sz="2200"/>
          </a:p>
          <a:p>
            <a:pPr marL="0" indent="0">
              <a:buNone/>
            </a:pPr>
            <a:endParaRPr lang="en-US" sz="2200"/>
          </a:p>
          <a:p>
            <a:pPr marL="0" indent="0">
              <a:buNone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1944257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57A93A8D0E4AB4B87A8C3271012BFA5" ma:contentTypeVersion="4" ma:contentTypeDescription="Create a new document." ma:contentTypeScope="" ma:versionID="e516ed56f4997bde4d1ac59359580b6f">
  <xsd:schema xmlns:xsd="http://www.w3.org/2001/XMLSchema" xmlns:xs="http://www.w3.org/2001/XMLSchema" xmlns:p="http://schemas.microsoft.com/office/2006/metadata/properties" xmlns:ns3="89b0ce50-ffbf-4172-9f2f-b2d4c6c594bf" targetNamespace="http://schemas.microsoft.com/office/2006/metadata/properties" ma:root="true" ma:fieldsID="abd5ebfe19235296ac2d1e9bccec62be" ns3:_="">
    <xsd:import namespace="89b0ce50-ffbf-4172-9f2f-b2d4c6c594b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b0ce50-ffbf-4172-9f2f-b2d4c6c594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6F17E10-9EC2-40A7-9F0B-9F849D11D8CA}">
  <ds:schemaRefs>
    <ds:schemaRef ds:uri="89b0ce50-ffbf-4172-9f2f-b2d4c6c594b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DC2C3AF5-4A9E-4C45-ACCE-C5E617A1EA93}">
  <ds:schemaRefs>
    <ds:schemaRef ds:uri="89b0ce50-ffbf-4172-9f2f-b2d4c6c594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8BDCF21-1B1B-4F28-A7D2-68D66A402E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Office Theme</vt:lpstr>
      <vt:lpstr>1_Office Theme</vt:lpstr>
      <vt:lpstr>Sprint 0</vt:lpstr>
      <vt:lpstr>Finapp</vt:lpstr>
      <vt:lpstr>PowerPoint Presentation</vt:lpstr>
      <vt:lpstr>Core Functionality </vt:lpstr>
      <vt:lpstr>User Stories</vt:lpstr>
      <vt:lpstr>DoD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Jeff Pierantozzi</dc:creator>
  <cp:revision>2</cp:revision>
  <dcterms:created xsi:type="dcterms:W3CDTF">2016-11-02T04:12:31Z</dcterms:created>
  <dcterms:modified xsi:type="dcterms:W3CDTF">2026-09-30T13:45:11Z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0x010100857A93A8D0E4AB4B87A8C3271012BFA5</vt:lpwstr>
  </property>
</Properties>
</file>