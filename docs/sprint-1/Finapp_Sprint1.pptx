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3" r:id="rId1"/>
  </p:sldMasterIdLst>
  <p:sldIdLst>
    <p:sldId id="256" r:id="rId2"/>
    <p:sldId id="257" r:id="rId3"/>
    <p:sldId id="262" r:id="rId4"/>
    <p:sldId id="258" r:id="rId5"/>
    <p:sldId id="260" r:id="rId6"/>
    <p:sldId id="263" r:id="rId7"/>
    <p:sldId id="264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71" dt="2026-10-14T23:02:15.185"/>
    <p1510:client id="{85A236D7-89E9-59A3-DC7D-A0C823820C8D}" v="6" dt="2026-10-14T22:48:23.099"/>
    <p1510:client id="{F6BF3D0E-FEB0-34B2-111B-B03664D35979}" v="2" dt="2026-10-14T13:18:43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F6F6A-8043-6C41-8784-1D160D160E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0202-2BF9-7A4E-832F-961E26DC7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9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F6F6A-8043-6C41-8784-1D160D160E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0202-2BF9-7A4E-832F-961E26DC7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19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F6F6A-8043-6C41-8784-1D160D160E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0202-2BF9-7A4E-832F-961E26DC7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9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F6F6A-8043-6C41-8784-1D160D160E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0202-2BF9-7A4E-832F-961E26DC7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01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F6F6A-8043-6C41-8784-1D160D160E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0202-2BF9-7A4E-832F-961E26DC7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71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F6F6A-8043-6C41-8784-1D160D160E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0202-2BF9-7A4E-832F-961E26DC7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25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F6F6A-8043-6C41-8784-1D160D160E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0202-2BF9-7A4E-832F-961E26DC7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2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F6F6A-8043-6C41-8784-1D160D160E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0202-2BF9-7A4E-832F-961E26DC7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60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F6F6A-8043-6C41-8784-1D160D160E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0202-2BF9-7A4E-832F-961E26DC7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0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F6F6A-8043-6C41-8784-1D160D160E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0202-2BF9-7A4E-832F-961E26DC7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42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F6F6A-8043-6C41-8784-1D160D160E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0202-2BF9-7A4E-832F-961E26DC7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3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2DF6F6A-8043-6C41-8784-1D160D160E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38DC0202-2BF9-7A4E-832F-961E26DC7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  <p:sldLayoutId id="2147483997" r:id="rId4"/>
    <p:sldLayoutId id="2147483998" r:id="rId5"/>
    <p:sldLayoutId id="2147483999" r:id="rId6"/>
    <p:sldLayoutId id="2147484000" r:id="rId7"/>
    <p:sldLayoutId id="2147484001" r:id="rId8"/>
    <p:sldLayoutId id="2147484002" r:id="rId9"/>
    <p:sldLayoutId id="2147484003" r:id="rId10"/>
    <p:sldLayoutId id="214748400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A354F-56CD-1E8D-9EE9-F911EDC5DB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Sprint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552FA-DCFC-5588-9736-0C6C995A57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Sean Bassi, Ali Canturk, Braden Elsworth, Quinn Johnson, Jason Mele, </a:t>
            </a:r>
            <a:r>
              <a:rPr lang="en-US">
                <a:solidFill>
                  <a:schemeClr val="bg1"/>
                </a:solidFill>
              </a:rPr>
              <a:t>Lucas Polo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EEEA1A-BC7F-127A-CAE0-F1E3214CA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066" y="1181914"/>
            <a:ext cx="4298157" cy="143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078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7CC44D-6F7D-66E2-F25D-0585562E9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840888"/>
              </p:ext>
            </p:extLst>
          </p:nvPr>
        </p:nvGraphicFramePr>
        <p:xfrm>
          <a:off x="123825" y="295275"/>
          <a:ext cx="11944350" cy="6267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415">
                  <a:extLst>
                    <a:ext uri="{9D8B030D-6E8A-4147-A177-3AD203B41FA5}">
                      <a16:colId xmlns:a16="http://schemas.microsoft.com/office/drawing/2014/main" val="3226610442"/>
                    </a:ext>
                  </a:extLst>
                </a:gridCol>
                <a:gridCol w="5113485">
                  <a:extLst>
                    <a:ext uri="{9D8B030D-6E8A-4147-A177-3AD203B41FA5}">
                      <a16:colId xmlns:a16="http://schemas.microsoft.com/office/drawing/2014/main" val="1686073330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727896097"/>
                    </a:ext>
                  </a:extLst>
                </a:gridCol>
              </a:tblGrid>
              <a:tr h="56888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Product Backlog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Acceptance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Done/Partially Done/Not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124329"/>
                  </a:ext>
                </a:extLst>
              </a:tr>
              <a:tr h="11397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1. Access current stock prices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Stock prices (with historical data) come from an API and are displayed in a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Partially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079024"/>
                  </a:ext>
                </a:extLst>
              </a:tr>
              <a:tr h="1139713">
                <a:tc>
                  <a:txBody>
                    <a:bodyPr/>
                    <a:lstStyle/>
                    <a:p>
                      <a:r>
                        <a:rPr lang="en-US"/>
                        <a:t>25. Run simulations with my financial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 Monte Carlo simulation runs over possible outcomes and returns the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738061"/>
                  </a:ext>
                </a:extLst>
              </a:tr>
              <a:tr h="1139713">
                <a:tc>
                  <a:txBody>
                    <a:bodyPr/>
                    <a:lstStyle/>
                    <a:p>
                      <a:r>
                        <a:rPr lang="en-US"/>
                        <a:t>3, 5, 6. Track assets, income streams and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User can enter assets with estimated value, recurring income, and recurring or one-off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Partially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962363"/>
                  </a:ext>
                </a:extLst>
              </a:tr>
              <a:tr h="1139713">
                <a:tc>
                  <a:txBody>
                    <a:bodyPr/>
                    <a:lstStyle/>
                    <a:p>
                      <a:r>
                        <a:rPr lang="en-US"/>
                        <a:t>33. Create an account and log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 user creation screen creates a new account, and a login screen logs into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Partially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649374"/>
                  </a:ext>
                </a:extLst>
              </a:tr>
              <a:tr h="1139713">
                <a:tc>
                  <a:txBody>
                    <a:bodyPr/>
                    <a:lstStyle/>
                    <a:p>
                      <a:r>
                        <a:rPr lang="en-US"/>
                        <a:t>24. AI analyzes my finances and gives suggestions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 AI chatbot reads the user’s financial information and gives relevant suggestions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Not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180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017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5F4F805-202C-3C88-6993-238E68325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926200"/>
              </p:ext>
            </p:extLst>
          </p:nvPr>
        </p:nvGraphicFramePr>
        <p:xfrm>
          <a:off x="123825" y="295275"/>
          <a:ext cx="11944350" cy="6316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415">
                  <a:extLst>
                    <a:ext uri="{9D8B030D-6E8A-4147-A177-3AD203B41FA5}">
                      <a16:colId xmlns:a16="http://schemas.microsoft.com/office/drawing/2014/main" val="3226610442"/>
                    </a:ext>
                  </a:extLst>
                </a:gridCol>
                <a:gridCol w="5113485">
                  <a:extLst>
                    <a:ext uri="{9D8B030D-6E8A-4147-A177-3AD203B41FA5}">
                      <a16:colId xmlns:a16="http://schemas.microsoft.com/office/drawing/2014/main" val="1686073330"/>
                    </a:ext>
                  </a:extLst>
                </a:gridCol>
                <a:gridCol w="3981450">
                  <a:extLst>
                    <a:ext uri="{9D8B030D-6E8A-4147-A177-3AD203B41FA5}">
                      <a16:colId xmlns:a16="http://schemas.microsoft.com/office/drawing/2014/main" val="727896097"/>
                    </a:ext>
                  </a:extLst>
                </a:gridCol>
              </a:tblGrid>
              <a:tr h="56888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Product Backlog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Acceptance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Done/Partially Done/Not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124329"/>
                  </a:ext>
                </a:extLst>
              </a:tr>
              <a:tr h="1139713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14. Categorize my different incomes, assets and expenses</a:t>
                      </a:r>
                      <a:endParaRPr lang="en-US"/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We generate node graphs for income, assets and expenses that fall into a specific category and display them as a node diagram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Partially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079024"/>
                  </a:ext>
                </a:extLst>
              </a:tr>
              <a:tr h="11397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19. Change the theme of the website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We have multiple website themes and change them based on user input, remembering their last choice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738061"/>
                  </a:ext>
                </a:extLst>
              </a:tr>
              <a:tr h="11397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21. Have a secure website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We have strict password requirements and we encrypt any financial data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Not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962363"/>
                  </a:ext>
                </a:extLst>
              </a:tr>
              <a:tr h="11397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7. Track and manage various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We allow the user to search their incomes, assets and expenses by 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Partially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649374"/>
                  </a:ext>
                </a:extLst>
              </a:tr>
              <a:tr h="11397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orbel"/>
                        </a:rPr>
                        <a:t>26. Track my simulation runs over time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 AI chatbot reads the user’s financial information and gives relevant suggestions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Not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180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192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271491B-5337-1627-60E6-6C9FB68C6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611517"/>
            <a:ext cx="2947482" cy="455241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spc="-100"/>
              <a:t>Product Backlog Items (PBI) Complete: 2</a:t>
            </a:r>
            <a:br>
              <a:rPr lang="en-US" sz="2000" spc="-100"/>
            </a:br>
            <a:br>
              <a:rPr lang="en-US" sz="2000" spc="-100"/>
            </a:br>
            <a:r>
              <a:rPr lang="en-US" sz="2000" spc="-100"/>
              <a:t>Remaining PBI : 31</a:t>
            </a:r>
            <a:br>
              <a:rPr lang="en-US" sz="2000" spc="-100"/>
            </a:br>
            <a:br>
              <a:rPr lang="en-US" sz="2000" spc="-100"/>
            </a:br>
            <a:r>
              <a:rPr lang="en-US" sz="2000" spc="-100"/>
              <a:t>Average PBI / Sprint:  8</a:t>
            </a:r>
            <a:br>
              <a:rPr lang="en-US" sz="2000" spc="-100"/>
            </a:br>
            <a:br>
              <a:rPr lang="en-US" sz="2000" spc="-100"/>
            </a:br>
            <a:r>
              <a:rPr lang="en-US" sz="2000" spc="-100"/>
              <a:t># of Sprints Required to Complete:  6</a:t>
            </a:r>
            <a:br>
              <a:rPr lang="en-US" sz="2000" spc="-100"/>
            </a:br>
            <a:br>
              <a:rPr lang="en-US" sz="2000" spc="-100"/>
            </a:br>
            <a:r>
              <a:rPr lang="en-US" sz="2000" spc="-100"/>
              <a:t>Duration of Sprints: 2 Weeks</a:t>
            </a:r>
            <a:br>
              <a:rPr lang="en-US" sz="2000" spc="-100"/>
            </a:br>
            <a:br>
              <a:rPr lang="en-US" sz="2000" spc="-100"/>
            </a:br>
            <a:r>
              <a:rPr lang="en-US" sz="2000" spc="-100"/>
              <a:t>Estimate to Complete: 8 Weeks</a:t>
            </a:r>
            <a:br>
              <a:rPr lang="en-US" sz="2000" spc="-100"/>
            </a:br>
            <a:br>
              <a:rPr lang="en-US" sz="2000" spc="-100"/>
            </a:br>
            <a:r>
              <a:rPr lang="en-US" sz="2000" spc="-100"/>
              <a:t># of Sprints remaining: 4</a:t>
            </a:r>
            <a:endParaRPr lang="en-US"/>
          </a:p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67F269-C16F-AE79-A5D7-B78BFABD7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0680" y="370907"/>
            <a:ext cx="8122023" cy="332077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C2A777-3390-65C9-FC93-83FF9B34C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643" y="3690075"/>
            <a:ext cx="7578744" cy="313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74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735E-DA50-D6A2-E1F4-8C038C48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 Overview</a:t>
            </a:r>
            <a:br>
              <a:rPr lang="en-US"/>
            </a:b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1AA6D6-B254-E0E9-CC3B-3A57B53DF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8610" y="1289493"/>
            <a:ext cx="8002002" cy="4264856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56209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AF7A14-388F-725E-09C9-7261F25A87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4952" y="643467"/>
            <a:ext cx="1046209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04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527BF3-A60C-DBC0-3850-B45CD3776B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4512"/>
          <a:stretch>
            <a:fillRect/>
          </a:stretch>
        </p:blipFill>
        <p:spPr>
          <a:xfrm>
            <a:off x="643467" y="643488"/>
            <a:ext cx="10905066" cy="557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94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5088F1-BCE5-1BDA-2E6A-01AE98590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13" y="643467"/>
            <a:ext cx="1036477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367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ra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Frame</vt:lpstr>
      <vt:lpstr>Sprint 1</vt:lpstr>
      <vt:lpstr>PowerPoint Presentation</vt:lpstr>
      <vt:lpstr>PowerPoint Presentation</vt:lpstr>
      <vt:lpstr>Product Backlog Items (PBI) Complete: 2  Remaining PBI : 31  Average PBI / Sprint:  8  # of Sprints Required to Complete:  6  Duration of Sprints: 2 Weeks  Estimate to Complete: 8 Weeks  # of Sprints remaining: 4 </vt:lpstr>
      <vt:lpstr>Product Overview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Johnson, Quinn Alexandra</dc:creator>
  <cp:revision>2</cp:revision>
  <dcterms:created xsi:type="dcterms:W3CDTF">2026-10-13T23:02:59Z</dcterms:created>
  <dcterms:modified xsi:type="dcterms:W3CDTF">2026-10-15T00:38:05Z</dcterms:modified>
</cp:coreProperties>
</file>